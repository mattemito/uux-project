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YQV2ttUxkCVhIw12Ckdt+V4u4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Wireframes v1 — dopo l'Inspection card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HPHP — Team Affordance — Fase C, Documento 04 (v1_dopo_inspection)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Integra le raccomandazioni [W-01]-[W-03] (Cognitive Walkthrough) e [H-01]-[H-03] (Heuristic Analysis) della Fase D, Documenti 02a e 02b.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Changelog rispetto a v0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457200" y="1051560"/>
            <a:ext cx="100584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457200" y="105156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[W-01]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600200" y="105156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Schermata 2 — icona 'ripeti' sostituita con freccia circolare più universale + micro-testo esplicativo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1618488"/>
            <a:ext cx="100584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57200" y="161848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[W-02]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600200" y="161848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Schermata 3 — aggiunta istruzione illustrata 'Controlla i messaggi SMS del telefono, poi torna qui'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2185416"/>
            <a:ext cx="100584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2185416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[H-02]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600200" y="2185416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Schermata 3 — aggiunto tasto 'Annulla' esplicito durante l'autenticazione leggera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2752344"/>
            <a:ext cx="100584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2752344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[H-01]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600200" y="275234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Nuova schermata 3b — errore: codice SMS errato o scaduto, con azione di recupero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3319272"/>
            <a:ext cx="100584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57200" y="331927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[H-01]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600200" y="331927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Nuova schermata 4b — errore: slot non più disponibile al momento della conferma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3886200"/>
            <a:ext cx="100584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57200" y="38862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[W-03]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600200" y="388620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Nuova schermata 5b — conferma di successo esplicita a fine flusso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4453128"/>
            <a:ext cx="100584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445312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[H-03]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600200" y="445312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Nuova schermata 7b — vista tabellare densa della dashboard caregiver, per utenti esperti come Elena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fmla="val 7225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Prenota una visita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754880" y="13716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Cosa vuoi prenotare?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754880" y="1783080"/>
            <a:ext cx="2651760" cy="685800"/>
          </a:xfrm>
          <a:prstGeom prst="roundRect">
            <a:avLst>
              <a:gd fmla="val 10667" name="adj"/>
            </a:avLst>
          </a:prstGeom>
          <a:solidFill>
            <a:srgbClr val="EAF3EC"/>
          </a:solidFill>
          <a:ln cap="flat" cmpd="sng" w="12700">
            <a:solidFill>
              <a:srgbClr val="3B7A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892040" y="18562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Diabetologia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892040" y="21305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come l'ultima volta, 6 marzo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995160" y="1947672"/>
            <a:ext cx="365760" cy="365760"/>
          </a:xfrm>
          <a:prstGeom prst="ellipse">
            <a:avLst/>
          </a:prstGeom>
          <a:solidFill>
            <a:srgbClr val="3B7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995160" y="19476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54880" y="2651760"/>
            <a:ext cx="2651760" cy="502920"/>
          </a:xfrm>
          <a:prstGeom prst="roundRect">
            <a:avLst>
              <a:gd fmla="val 1454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892040" y="265176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Esami del sangue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754880" y="3246120"/>
            <a:ext cx="2651760" cy="502920"/>
          </a:xfrm>
          <a:prstGeom prst="roundRect">
            <a:avLst>
              <a:gd fmla="val 1454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892040" y="32461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Altra visita specialistica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754880" y="3840480"/>
            <a:ext cx="2651760" cy="502920"/>
          </a:xfrm>
          <a:prstGeom prst="roundRect">
            <a:avLst>
              <a:gd fmla="val 1454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892040" y="38404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Cerca per nome o reparto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0" y="5989320"/>
            <a:ext cx="603504" cy="502920"/>
          </a:xfrm>
          <a:prstGeom prst="rect">
            <a:avLst/>
          </a:prstGeom>
          <a:solidFill>
            <a:srgbClr val="EAF3EC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791456" y="6062472"/>
            <a:ext cx="164592" cy="164592"/>
          </a:xfrm>
          <a:prstGeom prst="rect">
            <a:avLst/>
          </a:prstGeom>
          <a:solidFill>
            <a:srgbClr val="3B7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572000" y="6245352"/>
            <a:ext cx="603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7A57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3B7A57"/>
                </a:solidFill>
                <a:latin typeface="Arial"/>
                <a:ea typeface="Arial"/>
                <a:cs typeface="Arial"/>
                <a:sym typeface="Arial"/>
              </a:rPr>
              <a:t>Prenota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175504" y="5989320"/>
            <a:ext cx="603504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394960" y="6062472"/>
            <a:ext cx="164592" cy="16459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175504" y="6245352"/>
            <a:ext cx="603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Appuntam.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779008" y="5989320"/>
            <a:ext cx="603504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998464" y="6062472"/>
            <a:ext cx="164592" cy="16459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779008" y="6245352"/>
            <a:ext cx="603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Prescriz.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382512" y="5989320"/>
            <a:ext cx="603504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601968" y="6062472"/>
            <a:ext cx="164592" cy="16459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382512" y="6245352"/>
            <a:ext cx="603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Chi assisto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986016" y="5989320"/>
            <a:ext cx="603504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205472" y="6062472"/>
            <a:ext cx="164592" cy="16459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986016" y="6245352"/>
            <a:ext cx="603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Aiuto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2 — Scelta prestazione (v1)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1234440"/>
            <a:ext cx="109728" cy="109728"/>
          </a:xfrm>
          <a:prstGeom prst="rect">
            <a:avLst/>
          </a:prstGeom>
          <a:solidFill>
            <a:srgbClr val="3B7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85800" y="1188720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[W-01] Icona 'ripeti' sostituita da un pulsante rotondo con freccia circolare, pattern più universalmente riconosciuto di una singola lettera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1947672"/>
            <a:ext cx="109728" cy="109728"/>
          </a:xfrm>
          <a:prstGeom prst="rect">
            <a:avLst/>
          </a:prstGeom>
          <a:solidFill>
            <a:srgbClr val="3B7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85800" y="1901952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[W-01] Aggiunta la data dell'ultima volta ('come l'ultima volta, 6 marzo') come ulteriore ancoraggio di riconoscimento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fmla="val 7225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Conferma la tua identità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754880" y="1325880"/>
            <a:ext cx="2651760" cy="594360"/>
          </a:xfrm>
          <a:prstGeom prst="roundRect">
            <a:avLst>
              <a:gd fmla="val 12308" name="adj"/>
            </a:avLst>
          </a:prstGeom>
          <a:solidFill>
            <a:srgbClr val="FFF7E6"/>
          </a:solidFill>
          <a:ln cap="flat" cmpd="sng" w="12700">
            <a:solidFill>
              <a:srgbClr val="C99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864608" y="1399032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B00"/>
              </a:buClr>
              <a:buSzPts val="870"/>
              <a:buFont typeface="Arial"/>
              <a:buNone/>
            </a:pPr>
            <a:r>
              <a:rPr b="1" i="0" lang="en-US" sz="870" u="none" cap="none" strike="noStrike">
                <a:solidFill>
                  <a:srgbClr val="7A5B00"/>
                </a:solidFill>
                <a:latin typeface="Arial"/>
                <a:ea typeface="Arial"/>
                <a:cs typeface="Arial"/>
                <a:sym typeface="Arial"/>
              </a:rPr>
              <a:t>Controlla i messaggi SMS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B00"/>
              </a:buClr>
              <a:buSzPts val="870"/>
              <a:buFont typeface="Arial"/>
              <a:buNone/>
            </a:pPr>
            <a:r>
              <a:rPr b="1" i="0" lang="en-US" sz="870" u="none" cap="none" strike="noStrike">
                <a:solidFill>
                  <a:srgbClr val="7A5B00"/>
                </a:solidFill>
                <a:latin typeface="Arial"/>
                <a:ea typeface="Arial"/>
                <a:cs typeface="Arial"/>
                <a:sym typeface="Arial"/>
              </a:rPr>
              <a:t>del tuo telefono, poi torna qui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754880" y="21031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Codice ricevuto al numero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***  ***  1234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029200" y="2651760"/>
            <a:ext cx="210312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58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029200" y="265176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_  _  _  _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754880" y="3337560"/>
            <a:ext cx="2651760" cy="502920"/>
          </a:xfrm>
          <a:prstGeom prst="roundRect">
            <a:avLst>
              <a:gd fmla="val 14545" name="adj"/>
            </a:avLst>
          </a:prstGeom>
          <a:solidFill>
            <a:srgbClr val="3B7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754880" y="33375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Conferma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754880" y="3977640"/>
            <a:ext cx="2651760" cy="41148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754880" y="39776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Annulla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754880" y="45262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Non hai ricevuto il codice? Chiama il numero verde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3 — Autenticazione (v1)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1234440"/>
            <a:ext cx="109728" cy="109728"/>
          </a:xfrm>
          <a:prstGeom prst="rect">
            <a:avLst/>
          </a:prstGeom>
          <a:solidFill>
            <a:srgbClr val="3B7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85800" y="1188720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[W-02] Istruzione esplicita ed evidenziata prima del campo, per chi non ha mai usato un codice via SMS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1947672"/>
            <a:ext cx="109728" cy="109728"/>
          </a:xfrm>
          <a:prstGeom prst="rect">
            <a:avLst/>
          </a:prstGeom>
          <a:solidFill>
            <a:srgbClr val="3B7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85800" y="1901952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[H-02] Tasto 'Annulla' esplicito: prima l'unica via di uscita era il tasto indietro del telefono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fmla="val 7225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Codice non valido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754880" y="1371600"/>
            <a:ext cx="2651760" cy="822960"/>
          </a:xfrm>
          <a:prstGeom prst="roundRect">
            <a:avLst>
              <a:gd fmla="val 8889" name="adj"/>
            </a:avLst>
          </a:prstGeom>
          <a:solidFill>
            <a:srgbClr val="FBE4E4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892040" y="146304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Il codice inserito non è corretto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è scaduto. Riprova, oppure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chiedi un nuovo codice.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029200" y="2377440"/>
            <a:ext cx="210312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58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029200" y="23774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_  _  _  _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754880" y="3063240"/>
            <a:ext cx="2651760" cy="502920"/>
          </a:xfrm>
          <a:prstGeom prst="roundRect">
            <a:avLst>
              <a:gd fmla="val 14545" name="adj"/>
            </a:avLst>
          </a:prstGeom>
          <a:solidFill>
            <a:srgbClr val="3B7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754880" y="306324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Riprova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754880" y="3703320"/>
            <a:ext cx="265176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754880" y="37033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Invia un nuovo codice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3b — Errore codice (nuova, v1)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1234440"/>
            <a:ext cx="109728" cy="1097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85800" y="1188720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[H-01] Prima assente: il comportamento in caso di codice errato non era specificato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1947672"/>
            <a:ext cx="109728" cy="1097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85800" y="1901952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Messaggio in linguaggio semplice, senza codici di errore tecnici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57200" y="2660904"/>
            <a:ext cx="109728" cy="1097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85800" y="2615184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Due azioni di recupero chiare: riprovare o richiedere un nuovo codice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fmla="val 7225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Orario non più disponibile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754880" y="137160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BE4E4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892040" y="146304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L'orario scelto (10:30, 12 settembre)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è stato appena occupato da un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altro paziente. Scegli un altro orario.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754880" y="24688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Altri orari disponibili — 12 settembre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754880" y="2788920"/>
            <a:ext cx="2651760" cy="457200"/>
          </a:xfrm>
          <a:prstGeom prst="roundRect">
            <a:avLst>
              <a:gd fmla="val 12000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892040" y="27889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09:30 — mattina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754880" y="3337560"/>
            <a:ext cx="2651760" cy="457200"/>
          </a:xfrm>
          <a:prstGeom prst="roundRect">
            <a:avLst>
              <a:gd fmla="val 12000" name="adj"/>
            </a:avLst>
          </a:prstGeom>
          <a:solidFill>
            <a:srgbClr val="EAF3EC"/>
          </a:solidFill>
          <a:ln cap="flat" cmpd="sng" w="12700">
            <a:solidFill>
              <a:srgbClr val="3B7A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4892040" y="33375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14:00 — pomeriggio (consigliato)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4b — Errore disponibilità (nuova, v1)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1234440"/>
            <a:ext cx="109728" cy="1097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685800" y="1188720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[H-01] Prima assente: la schermata 4 originale non specificava questo caso, plausibile con più utenti concorrenti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7200" y="1947672"/>
            <a:ext cx="109728" cy="1097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85800" y="1901952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L'utente non deve ripartire da zero: gli vengono proposti subito altri orari validi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4498848" y="749808"/>
            <a:ext cx="3163824" cy="5815584"/>
          </a:xfrm>
          <a:prstGeom prst="roundRect">
            <a:avLst>
              <a:gd fmla="val 7225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572000" y="822960"/>
            <a:ext cx="301752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Prenotazione confermata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715000" y="1554480"/>
            <a:ext cx="731520" cy="731520"/>
          </a:xfrm>
          <a:prstGeom prst="ellipse">
            <a:avLst/>
          </a:prstGeom>
          <a:solidFill>
            <a:srgbClr val="EAF3EC"/>
          </a:solidFill>
          <a:ln cap="flat" cmpd="sng" w="19050">
            <a:solidFill>
              <a:srgbClr val="3B7A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715000" y="1554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7A5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B7A5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754880" y="24688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Prenotazione confermata!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754880" y="28803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Visita diabetologica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Mar 12 settembre, ore 10:30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754880" y="3520440"/>
            <a:ext cx="2651760" cy="502920"/>
          </a:xfrm>
          <a:prstGeom prst="roundRect">
            <a:avLst>
              <a:gd fmla="val 14545" name="adj"/>
            </a:avLst>
          </a:prstGeom>
          <a:solidFill>
            <a:srgbClr val="3B7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754880" y="352044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Aggiungi al calendario del telefono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754880" y="4160520"/>
            <a:ext cx="265176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754880" y="41605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Torna alla home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754880" y="47548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Abbiamo avvisato anche Elena.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57200" y="4572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5b — Conferma di successo (nuova, v1)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57200" y="1234440"/>
            <a:ext cx="109728" cy="109728"/>
          </a:xfrm>
          <a:prstGeom prst="rect">
            <a:avLst/>
          </a:prstGeom>
          <a:solidFill>
            <a:srgbClr val="3B7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685800" y="1188720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[W-03] Prima assente: il flusso terminava sul tasto 'Conferma' senza un riscontro visivo esplicito di completamento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57200" y="1947672"/>
            <a:ext cx="109728" cy="109728"/>
          </a:xfrm>
          <a:prstGeom prst="rect">
            <a:avLst/>
          </a:prstGeom>
          <a:solidFill>
            <a:srgbClr val="3B7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85800" y="1901952"/>
            <a:ext cx="3611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Icona di spunta e messaggio positivo riducono l'incertezza post-azione, importante per un utente ansioso come Pina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7b — Vista tabellare caregiver (nuova, v1)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Variante desktop/tablet della dashboard 'Chi assisto', pensata per un utente esperto come Elena che segue più familiari o più appuntamenti.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1371600"/>
            <a:ext cx="2103120" cy="457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57200" y="13716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Familiare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560320" y="1371600"/>
            <a:ext cx="3200400" cy="457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2560320" y="13716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Prossimo appuntamento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760720" y="1371600"/>
            <a:ext cx="1828800" cy="457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760720" y="13716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589520" y="1371600"/>
            <a:ext cx="2103120" cy="457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7589520" y="13716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Prenotato 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9692640" y="1371600"/>
            <a:ext cx="1828800" cy="457200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9692640" y="13716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Azioni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57200" y="1828800"/>
            <a:ext cx="21031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57200" y="182880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Pina Ferretti (madre)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560320" y="1828800"/>
            <a:ext cx="32004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2560320" y="18288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Visita diabetologica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760720" y="1828800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5760720" y="18288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12 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7589520" y="1828800"/>
            <a:ext cx="21031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7589520" y="182880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Pina (auto)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9692640" y="1828800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9692640" y="18288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Vedi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" y="2331720"/>
            <a:ext cx="21031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57200" y="23317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Pina Ferretti (madre)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2560320" y="2331720"/>
            <a:ext cx="32004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2560320" y="23317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Esami del sangue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760720" y="2331720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5760720" y="23317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 ott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7589520" y="2331720"/>
            <a:ext cx="21031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7589520" y="23317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Pina (auto)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9692640" y="2331720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9692640" y="23317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Vedi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57200" y="2834640"/>
            <a:ext cx="21031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457200" y="28346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Carlo Ferretti (zio)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2560320" y="2834640"/>
            <a:ext cx="32004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2560320" y="28346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Visita cardiologica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760720" y="2834640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760720" y="28346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20 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589520" y="2834640"/>
            <a:ext cx="21031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7589520" y="28346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Elena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9692640" y="2834640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9692640" y="28346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Vedi / Disdici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57200" y="36118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[H-03] Formato tabellare denso: più informazioni per schermata, azioni dirette in riga, adatto a chi gestisce più familiari (Elena, Technical=5).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2026-08-06T12:18:23Z</dcterms:created>
  <dc:creator>PptxGenJS</dc:creator>
</cp:coreProperties>
</file>