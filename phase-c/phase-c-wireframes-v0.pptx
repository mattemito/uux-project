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A6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— Redesign CUPweb / ER Salute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HPHP — Team Affordance — Fase C, Documento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lo-fi in scala di grigi. Contenuto specifico dove porta un significato (etichette, messaggi); generico altrove.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8848" y="749808"/>
            <a:ext cx="3163824" cy="5815584"/>
          </a:xfrm>
          <a:prstGeom prst="roundRect">
            <a:avLst>
              <a:gd name="adj" fmla="val 7225"/>
            </a:avLst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822960"/>
            <a:ext cx="3017520" cy="5669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Salute — Home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Ciao Giuseppina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7373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AF3EC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828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PROSSIMO APPUNTAMENTO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92040" y="2057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 diabetologica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12 settembre, ore 10:30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283464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3B7A57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834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 una visita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657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mie prestazioni ricorrenti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97764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E5E5E5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3977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Diabetologia — ogni 6 mesi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86600" y="3977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45262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E5E5E5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4526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Esami del sangue — ogni 4 mesi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86600" y="4526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5989320"/>
            <a:ext cx="603504" cy="502920"/>
          </a:xfrm>
          <a:prstGeom prst="rect">
            <a:avLst/>
          </a:prstGeom>
          <a:solidFill>
            <a:srgbClr val="EAF3EC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91456" y="6062472"/>
            <a:ext cx="164592" cy="164592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B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175504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4" name="Text 22"/>
          <p:cNvSpPr/>
          <p:nvPr/>
        </p:nvSpPr>
        <p:spPr>
          <a:xfrm>
            <a:off x="5175504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Appuntam.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779008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98464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7" name="Text 25"/>
          <p:cNvSpPr/>
          <p:nvPr/>
        </p:nvSpPr>
        <p:spPr>
          <a:xfrm>
            <a:off x="5779008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Prescriz.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6382512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01968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0" name="Text 28"/>
          <p:cNvSpPr/>
          <p:nvPr/>
        </p:nvSpPr>
        <p:spPr>
          <a:xfrm>
            <a:off x="6382512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assisto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6986016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05472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3" name="Text 31"/>
          <p:cNvSpPr/>
          <p:nvPr/>
        </p:nvSpPr>
        <p:spPr>
          <a:xfrm>
            <a:off x="6986016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Aiuto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Home (Pina)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57200" y="1234440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11887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Prossimo appuntamento sempre visibile in alto: orienta subito l'utente (rif. [P-01])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" y="1892808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184708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Azione primaria unica e grande: 'Prenota una visita', nessuna scelta ambigua tra pulsanti simili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" y="2551176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250545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Prestazioni ricorrenti con azione 'ripeti' one-tap: risponde al requisito [U1-01] di Fase B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57200" y="3209544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316382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 di navigazione a 5 voci, identica su tutte le schermate (rif. IA card)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8848" y="749808"/>
            <a:ext cx="3163824" cy="5815584"/>
          </a:xfrm>
          <a:prstGeom prst="roundRect">
            <a:avLst>
              <a:gd name="adj" fmla="val 7225"/>
            </a:avLst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822960"/>
            <a:ext cx="3017520" cy="5669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 una visita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vuoi prenotare?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78308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AF3EC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783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Diabetologia (di nuovo, come l'ultima volta)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242316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2423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Esami del sangue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306324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3063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Altra visita specialistica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370332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3703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Cerca per nome o reparto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5989320"/>
            <a:ext cx="603504" cy="502920"/>
          </a:xfrm>
          <a:prstGeom prst="rect">
            <a:avLst/>
          </a:prstGeom>
          <a:solidFill>
            <a:srgbClr val="EAF3EC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91456" y="6062472"/>
            <a:ext cx="164592" cy="164592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B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175504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0" name="Text 18"/>
          <p:cNvSpPr/>
          <p:nvPr/>
        </p:nvSpPr>
        <p:spPr>
          <a:xfrm>
            <a:off x="5175504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Appuntam.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779008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98464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3" name="Text 21"/>
          <p:cNvSpPr/>
          <p:nvPr/>
        </p:nvSpPr>
        <p:spPr>
          <a:xfrm>
            <a:off x="5779008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Prescriz.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6382512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01968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assisto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986016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05472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9" name="Text 27"/>
          <p:cNvSpPr/>
          <p:nvPr/>
        </p:nvSpPr>
        <p:spPr>
          <a:xfrm>
            <a:off x="6986016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Aiuto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57200" y="457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Scelta prestazione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1234440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11887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prestazione ricorrente della persona è proposta come prima opzione, evidenziata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1892808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184708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'Cerca per nome o reparto' è l'ultima opzione, non la prima: la struttura guidata precede la ricerca libera (rif. IA card, Search aids)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2551176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250545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Etichette in linguaggio naturale, non nomi di sistema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8848" y="749808"/>
            <a:ext cx="3163824" cy="5815584"/>
          </a:xfrm>
          <a:prstGeom prst="roundRect">
            <a:avLst>
              <a:gd name="adj" fmla="val 7225"/>
            </a:avLst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822960"/>
            <a:ext cx="3017520" cy="5669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Conferma la tua identità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4630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procedere ti abbiamo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inviato un codice via SMS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numero ***  ***  1234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0" y="23774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2377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  _  _  _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315468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3B7A57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3154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3886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hai ricevuto il codice?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Chiama il numero verde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Autenticazione leggera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1234440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1887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per un'azione a basso rischio come consultare la disponibilità: nessuna richiesta di SPID/CIE a questo passo (rif. [P-01], [R-01] Fase A)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1892808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84708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SPID resta necessario più avanti solo per confermare in via definitiva, non per esplorare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551176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50545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di fuga sempre visibile verso l'assistenza umana (rif. [U1-02] Fase B)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8848" y="749808"/>
            <a:ext cx="3163824" cy="5815584"/>
          </a:xfrm>
          <a:prstGeom prst="roundRect">
            <a:avLst>
              <a:gd name="adj" fmla="val 7225"/>
            </a:avLst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822960"/>
            <a:ext cx="3017520" cy="5669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Scegli data e ora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325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Settembre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1645920"/>
            <a:ext cx="37882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33703" y="1645920"/>
            <a:ext cx="37882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12526" y="1645920"/>
            <a:ext cx="37882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91349" y="1645920"/>
            <a:ext cx="37882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70171" y="1645920"/>
            <a:ext cx="37882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48994" y="1645920"/>
            <a:ext cx="37882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27817" y="1645920"/>
            <a:ext cx="37882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1920240"/>
            <a:ext cx="333103" cy="329184"/>
          </a:xfrm>
          <a:prstGeom prst="roundRect">
            <a:avLst>
              <a:gd name="adj" fmla="val 13889"/>
            </a:avLst>
          </a:prstGeom>
          <a:solidFill>
            <a:srgbClr val="E5E5E5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920240"/>
            <a:ext cx="3331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33703" y="1920240"/>
            <a:ext cx="333103" cy="329184"/>
          </a:xfrm>
          <a:prstGeom prst="roundRect">
            <a:avLst>
              <a:gd name="adj" fmla="val 13889"/>
            </a:avLst>
          </a:prstGeom>
          <a:solidFill>
            <a:srgbClr val="E5E5E5"/>
          </a:solidFill>
          <a:ln/>
        </p:spPr>
      </p:sp>
      <p:sp>
        <p:nvSpPr>
          <p:cNvPr id="17" name="Text 15"/>
          <p:cNvSpPr/>
          <p:nvPr/>
        </p:nvSpPr>
        <p:spPr>
          <a:xfrm>
            <a:off x="5133703" y="1920240"/>
            <a:ext cx="3331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12526" y="1920240"/>
            <a:ext cx="333103" cy="329184"/>
          </a:xfrm>
          <a:prstGeom prst="roundRect">
            <a:avLst>
              <a:gd name="adj" fmla="val 13889"/>
            </a:avLst>
          </a:prstGeom>
          <a:solidFill>
            <a:srgbClr val="EAF3EC"/>
          </a:solidFill>
          <a:ln w="9525">
            <a:solidFill>
              <a:srgbClr val="3B7A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2526" y="1920240"/>
            <a:ext cx="3331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891349" y="1920240"/>
            <a:ext cx="333103" cy="329184"/>
          </a:xfrm>
          <a:prstGeom prst="roundRect">
            <a:avLst>
              <a:gd name="adj" fmla="val 13889"/>
            </a:avLst>
          </a:prstGeom>
          <a:solidFill>
            <a:srgbClr val="EAF3EC"/>
          </a:solidFill>
          <a:ln w="9525">
            <a:solidFill>
              <a:srgbClr val="3B7A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1349" y="1920240"/>
            <a:ext cx="3331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70171" y="1920240"/>
            <a:ext cx="333103" cy="329184"/>
          </a:xfrm>
          <a:prstGeom prst="roundRect">
            <a:avLst>
              <a:gd name="adj" fmla="val 13889"/>
            </a:avLst>
          </a:prstGeom>
          <a:solidFill>
            <a:srgbClr val="E5E5E5"/>
          </a:solidFill>
          <a:ln/>
        </p:spPr>
      </p:sp>
      <p:sp>
        <p:nvSpPr>
          <p:cNvPr id="23" name="Text 21"/>
          <p:cNvSpPr/>
          <p:nvPr/>
        </p:nvSpPr>
        <p:spPr>
          <a:xfrm>
            <a:off x="6270171" y="1920240"/>
            <a:ext cx="3331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648994" y="1920240"/>
            <a:ext cx="333103" cy="329184"/>
          </a:xfrm>
          <a:prstGeom prst="roundRect">
            <a:avLst>
              <a:gd name="adj" fmla="val 13889"/>
            </a:avLst>
          </a:prstGeom>
          <a:solidFill>
            <a:srgbClr val="E5E5E5"/>
          </a:solidFill>
          <a:ln/>
        </p:spPr>
      </p:sp>
      <p:sp>
        <p:nvSpPr>
          <p:cNvPr id="25" name="Text 23"/>
          <p:cNvSpPr/>
          <p:nvPr/>
        </p:nvSpPr>
        <p:spPr>
          <a:xfrm>
            <a:off x="6648994" y="1920240"/>
            <a:ext cx="3331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27817" y="1920240"/>
            <a:ext cx="333103" cy="329184"/>
          </a:xfrm>
          <a:prstGeom prst="roundRect">
            <a:avLst>
              <a:gd name="adj" fmla="val 13889"/>
            </a:avLst>
          </a:prstGeom>
          <a:solidFill>
            <a:srgbClr val="E5E5E5"/>
          </a:solidFill>
          <a:ln/>
        </p:spPr>
      </p:sp>
      <p:sp>
        <p:nvSpPr>
          <p:cNvPr id="27" name="Text 25"/>
          <p:cNvSpPr/>
          <p:nvPr/>
        </p:nvSpPr>
        <p:spPr>
          <a:xfrm>
            <a:off x="7027817" y="1920240"/>
            <a:ext cx="3331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2304288"/>
            <a:ext cx="333103" cy="329184"/>
          </a:xfrm>
          <a:prstGeom prst="roundRect">
            <a:avLst>
              <a:gd name="adj" fmla="val 13889"/>
            </a:avLst>
          </a:prstGeom>
          <a:solidFill>
            <a:srgbClr val="E5E5E5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304288"/>
            <a:ext cx="3331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133703" y="2304288"/>
            <a:ext cx="333103" cy="329184"/>
          </a:xfrm>
          <a:prstGeom prst="roundRect">
            <a:avLst>
              <a:gd name="adj" fmla="val 13889"/>
            </a:avLst>
          </a:prstGeom>
          <a:solidFill>
            <a:srgbClr val="EAF3EC"/>
          </a:solidFill>
          <a:ln w="9525">
            <a:solidFill>
              <a:srgbClr val="3B7A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3703" y="2304288"/>
            <a:ext cx="3331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512526" y="2304288"/>
            <a:ext cx="333103" cy="329184"/>
          </a:xfrm>
          <a:prstGeom prst="roundRect">
            <a:avLst>
              <a:gd name="adj" fmla="val 13889"/>
            </a:avLst>
          </a:prstGeom>
          <a:solidFill>
            <a:srgbClr val="EAF3EC"/>
          </a:solidFill>
          <a:ln w="9525">
            <a:solidFill>
              <a:srgbClr val="3B7A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12526" y="2304288"/>
            <a:ext cx="3331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891349" y="2304288"/>
            <a:ext cx="333103" cy="329184"/>
          </a:xfrm>
          <a:prstGeom prst="roundRect">
            <a:avLst>
              <a:gd name="adj" fmla="val 13889"/>
            </a:avLst>
          </a:prstGeom>
          <a:solidFill>
            <a:srgbClr val="E5E5E5"/>
          </a:solidFill>
          <a:ln/>
        </p:spPr>
      </p:sp>
      <p:sp>
        <p:nvSpPr>
          <p:cNvPr id="35" name="Text 33"/>
          <p:cNvSpPr/>
          <p:nvPr/>
        </p:nvSpPr>
        <p:spPr>
          <a:xfrm>
            <a:off x="5891349" y="2304288"/>
            <a:ext cx="3331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70171" y="2304288"/>
            <a:ext cx="333103" cy="329184"/>
          </a:xfrm>
          <a:prstGeom prst="roundRect">
            <a:avLst>
              <a:gd name="adj" fmla="val 13889"/>
            </a:avLst>
          </a:prstGeom>
          <a:solidFill>
            <a:srgbClr val="E5E5E5"/>
          </a:solidFill>
          <a:ln/>
        </p:spPr>
      </p:sp>
      <p:sp>
        <p:nvSpPr>
          <p:cNvPr id="37" name="Text 35"/>
          <p:cNvSpPr/>
          <p:nvPr/>
        </p:nvSpPr>
        <p:spPr>
          <a:xfrm>
            <a:off x="6270171" y="2304288"/>
            <a:ext cx="3331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648994" y="2304288"/>
            <a:ext cx="333103" cy="329184"/>
          </a:xfrm>
          <a:prstGeom prst="roundRect">
            <a:avLst>
              <a:gd name="adj" fmla="val 13889"/>
            </a:avLst>
          </a:prstGeom>
          <a:solidFill>
            <a:srgbClr val="E5E5E5"/>
          </a:solidFill>
          <a:ln/>
        </p:spPr>
      </p:sp>
      <p:sp>
        <p:nvSpPr>
          <p:cNvPr id="39" name="Text 37"/>
          <p:cNvSpPr/>
          <p:nvPr/>
        </p:nvSpPr>
        <p:spPr>
          <a:xfrm>
            <a:off x="6648994" y="2304288"/>
            <a:ext cx="3331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027817" y="2304288"/>
            <a:ext cx="333103" cy="329184"/>
          </a:xfrm>
          <a:prstGeom prst="roundRect">
            <a:avLst>
              <a:gd name="adj" fmla="val 13889"/>
            </a:avLst>
          </a:prstGeom>
          <a:solidFill>
            <a:srgbClr val="E5E5E5"/>
          </a:solidFill>
          <a:ln/>
        </p:spPr>
      </p:sp>
      <p:sp>
        <p:nvSpPr>
          <p:cNvPr id="41" name="Text 39"/>
          <p:cNvSpPr/>
          <p:nvPr/>
        </p:nvSpPr>
        <p:spPr>
          <a:xfrm>
            <a:off x="7027817" y="2304288"/>
            <a:ext cx="3331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54880" y="2880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Orari disponibili — 12 settembre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3200400"/>
            <a:ext cx="2651760" cy="41148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09:30 — mattina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3703320"/>
            <a:ext cx="2651760" cy="411480"/>
          </a:xfrm>
          <a:prstGeom prst="roundRect">
            <a:avLst>
              <a:gd name="adj" fmla="val 13333"/>
            </a:avLst>
          </a:prstGeom>
          <a:solidFill>
            <a:srgbClr val="EAF3EC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703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 — mattina (consigliato)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0" y="5989320"/>
            <a:ext cx="603504" cy="502920"/>
          </a:xfrm>
          <a:prstGeom prst="rect">
            <a:avLst/>
          </a:prstGeom>
          <a:solidFill>
            <a:srgbClr val="EAF3EC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91456" y="6062472"/>
            <a:ext cx="164592" cy="164592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0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B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5175504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94960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2" name="Text 50"/>
          <p:cNvSpPr/>
          <p:nvPr/>
        </p:nvSpPr>
        <p:spPr>
          <a:xfrm>
            <a:off x="5175504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Appuntam.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5779008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98464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5" name="Text 53"/>
          <p:cNvSpPr/>
          <p:nvPr/>
        </p:nvSpPr>
        <p:spPr>
          <a:xfrm>
            <a:off x="5779008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Prescriz.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6382512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601968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8" name="Text 56"/>
          <p:cNvSpPr/>
          <p:nvPr/>
        </p:nvSpPr>
        <p:spPr>
          <a:xfrm>
            <a:off x="6382512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assisto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6986016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05472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61" name="Text 59"/>
          <p:cNvSpPr/>
          <p:nvPr/>
        </p:nvSpPr>
        <p:spPr>
          <a:xfrm>
            <a:off x="6986016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Aiuto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457200" y="457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— Data e ora</a:t>
            </a:r>
            <a:endParaRPr lang="en-US" sz="2000" dirty="0"/>
          </a:p>
        </p:txBody>
      </p:sp>
      <p:sp>
        <p:nvSpPr>
          <p:cNvPr id="63" name="Shape 61"/>
          <p:cNvSpPr/>
          <p:nvPr/>
        </p:nvSpPr>
        <p:spPr>
          <a:xfrm>
            <a:off x="457200" y="1234440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64" name="Text 62"/>
          <p:cNvSpPr/>
          <p:nvPr/>
        </p:nvSpPr>
        <p:spPr>
          <a:xfrm>
            <a:off x="685800" y="11887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gli slot compatibili con la prestazione cronica di Pina sono mostrati come disponibili (rif. Blueprint, passo 4)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457200" y="1892808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66" name="Text 64"/>
          <p:cNvSpPr/>
          <p:nvPr/>
        </p:nvSpPr>
        <p:spPr>
          <a:xfrm>
            <a:off x="685800" y="184708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 slot è suggerito ('consigliato') per ridurre lo sforzo decisionale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457200" y="2551176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68" name="Text 66"/>
          <p:cNvSpPr/>
          <p:nvPr/>
        </p:nvSpPr>
        <p:spPr>
          <a:xfrm>
            <a:off x="685800" y="250545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semplificato, senza dover distinguere fra sistemi diversi (SSN / Libera professione) in questo passo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8848" y="749808"/>
            <a:ext cx="3163824" cy="5815584"/>
          </a:xfrm>
          <a:prstGeom prst="roundRect">
            <a:avLst>
              <a:gd name="adj" fmla="val 7225"/>
            </a:avLst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822960"/>
            <a:ext cx="3017520" cy="5669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Riepilogo prenotazione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5E5E5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1463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 diabetologica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12 settembre, ore 10:30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Ambulatorio di Ravenna, via Rossi 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SSN — nessun costo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274320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3B7A5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Conferma prenotazione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4290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429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Torna indietro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Avviseremo anche Elena, la persona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 ti assiste, quando confermerai.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— Riepilogo e conferma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1234440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11887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Tutte le informazioni rilevanti in un unico riquadro leggibile, senza gergo tecnico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1892808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184708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pulsante di azione primaria, ben distinto da 'Torna indietro'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551176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50545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Trasparenza verso il caregiver dichiarata esplicitamente, per costruire fiducia reciproca (rif. [C-02] Fase B)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8848" y="749808"/>
            <a:ext cx="3163824" cy="5815584"/>
          </a:xfrm>
          <a:prstGeom prst="roundRect">
            <a:avLst>
              <a:gd name="adj" fmla="val 7225"/>
            </a:avLst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822960"/>
            <a:ext cx="3017520" cy="5669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miei appuntamenti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32588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AF3EC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399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 diabetologica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92040" y="16733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12 set, 10:30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29400" y="13990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Disdici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2221992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5E5E5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2951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Esami del sangue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256946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Gio 8 ott, 08:15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29400" y="229514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Disdici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0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91456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5175504" y="5989320"/>
            <a:ext cx="603504" cy="502920"/>
          </a:xfrm>
          <a:prstGeom prst="rect">
            <a:avLst/>
          </a:prstGeom>
          <a:solidFill>
            <a:srgbClr val="EAF3EC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6062472"/>
            <a:ext cx="164592" cy="164592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19" name="Text 17"/>
          <p:cNvSpPr/>
          <p:nvPr/>
        </p:nvSpPr>
        <p:spPr>
          <a:xfrm>
            <a:off x="5175504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B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Appuntam.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5779008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98464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2" name="Text 20"/>
          <p:cNvSpPr/>
          <p:nvPr/>
        </p:nvSpPr>
        <p:spPr>
          <a:xfrm>
            <a:off x="5779008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Prescriz.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6382512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assisto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986016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05472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8" name="Text 26"/>
          <p:cNvSpPr/>
          <p:nvPr/>
        </p:nvSpPr>
        <p:spPr>
          <a:xfrm>
            <a:off x="6986016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Aiuto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— Lista appuntamenti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57200" y="1234440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11887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unificata: oggi sparsa tra sistemi diversi (rif. [ID-02] Fase A), qui in un solo elenco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1892808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184708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Azione 'Disdici' sempre visibile a fianco di ogni appuntamento: è l'azione più semplice del sistema (rif. [U2-01] Fase B)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2551176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250545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Nessuna scelta ambigua tra prenotazioni simili quando si vuole disdire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8848" y="749808"/>
            <a:ext cx="3163824" cy="5815584"/>
          </a:xfrm>
          <a:prstGeom prst="roundRect">
            <a:avLst>
              <a:gd name="adj" fmla="val 7225"/>
            </a:avLst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822960"/>
            <a:ext cx="3017520" cy="5669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assisto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3258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AF0FA"/>
          </a:solidFill>
          <a:ln w="12700">
            <a:solidFill>
              <a:srgbClr val="3B5B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B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 Ferretti (madre)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92040" y="170992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Prossimo appuntamento: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 diabetologica — 12 set, 10:30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Prenotata autonomamente da Pina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4754880" y="256032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B5B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5B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 tutti gli appuntamenti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315468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154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 per conto di Pina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91456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175504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8" name="Text 16"/>
          <p:cNvSpPr/>
          <p:nvPr/>
        </p:nvSpPr>
        <p:spPr>
          <a:xfrm>
            <a:off x="5175504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Appuntam.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5779008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98464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1" name="Text 19"/>
          <p:cNvSpPr/>
          <p:nvPr/>
        </p:nvSpPr>
        <p:spPr>
          <a:xfrm>
            <a:off x="5779008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Prescriz.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382512" y="5989320"/>
            <a:ext cx="603504" cy="502920"/>
          </a:xfrm>
          <a:prstGeom prst="rect">
            <a:avLst/>
          </a:prstGeom>
          <a:solidFill>
            <a:srgbClr val="EAF3EC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6062472"/>
            <a:ext cx="164592" cy="164592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B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assisto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6986016" y="5989320"/>
            <a:ext cx="603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05472" y="6062472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7" name="Text 25"/>
          <p:cNvSpPr/>
          <p:nvPr/>
        </p:nvSpPr>
        <p:spPr>
          <a:xfrm>
            <a:off x="6986016" y="6245352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Aiuto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7955280" y="457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— Dashboard caregiver (Elena)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955280" y="1234440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30" name="Text 28"/>
          <p:cNvSpPr/>
          <p:nvPr/>
        </p:nvSpPr>
        <p:spPr>
          <a:xfrm>
            <a:off x="8183880" y="11887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Nuova sezione, assente nel tool esistente: rende esplicita la relazione caregiver-paziente (rif. [P-04] Fase B, IA card)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955280" y="1892808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32" name="Text 30"/>
          <p:cNvSpPr/>
          <p:nvPr/>
        </p:nvSpPr>
        <p:spPr>
          <a:xfrm>
            <a:off x="8183880" y="184708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che l'azione è stata svolta autonomamente da Pina: rinforzo positivo per entrambe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955280" y="2551176"/>
            <a:ext cx="109728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34" name="Text 32"/>
          <p:cNvSpPr/>
          <p:nvPr/>
        </p:nvSpPr>
        <p:spPr>
          <a:xfrm>
            <a:off x="8183880" y="2505456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'Prenota per conto di' resta disponibile ma non è l'azione predefinita: incoraggia l'autonomia graduale (rif. [C-02] Fase B)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2026-08-06T12:02:31Z</dcterms:created>
  <dcterms:modified xsi:type="dcterms:W3CDTF">2026-08-06T12:02:31Z</dcterms:modified>
</cp:coreProperties>
</file>